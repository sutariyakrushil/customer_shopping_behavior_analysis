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" pitchFamily="2" charset="0"/>
      <p:regular r:id="rId13"/>
    </p:embeddedFont>
    <p:embeddedFont>
      <p:font typeface="Libre Baskerville" panose="020000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01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0302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Revenue peaks with Young Adults at $62,143 — about $3,000 more than Middle-aged customers • Notice the decline is gradual across age groups, with Senior customers at the lower end but still generating meaningful revenue at $55,763 • All age groups are within a relatively tight range, suggesting consistent purchasing power across demographics
• Top products tell an interesting story by category:
Clothing dominates with Blouses/Pants leading at 171 orders
Footwear close behind with Sandals at 160 orders
Outerwear competitive with Jackets at 163 orders
• Key takeaway: Young Adults are our revenue drivers, but we shouldn't overlook the other age segments — they're all performing similarly in terms of order volume, so the revenue difference may reflect higher average order values from younger customers rather than volume differences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our Power BI Dashboard — the central hub for all our key metrics and insights
• Notice the interactive filters at the top — you can slice the data by Subscription Status, Gender, Category, and Shipping Type
• These filters work across all six visualizations simultaneously, so you can drill down into specific segments in real-time
• All the charts update instantly as you adjust the filters, making it easy to explore different scenarios and answer questions on the fly
• This dashboard gives us a complete view of our business performance in a single, interactive interface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7EDD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</a:t>
            </a: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3,900 transactions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across product categories to guide strategic business decisions.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9828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at a Glance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74037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2565916" y="38058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Transactions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56884" y="2774037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9229130" y="38058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4727138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$59.76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2565916" y="57589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Avg. Purchase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56884" y="4727138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3.75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9229130" y="57589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Avg. Rating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93790" y="636841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Demographics · Purchase details · Shopping behavior · Subscription status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6643"/>
            <a:ext cx="79546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in Python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36627"/>
            <a:ext cx="4205168" cy="420516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44991" y="2077760"/>
            <a:ext cx="340162" cy="3401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97097" y="2070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Load &amp; Explore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97097" y="2651879"/>
            <a:ext cx="7547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pandas, df.info(), .describe()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44991" y="3475434"/>
            <a:ext cx="340162" cy="3401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97097" y="34684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Clean &amp; Impute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6297097" y="4049554"/>
            <a:ext cx="7547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Median-filled Review Ratings; dropped redundant promo_code_used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44991" y="4873109"/>
            <a:ext cx="340162" cy="3401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97097" y="486608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6297097" y="5447228"/>
            <a:ext cx="7547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age_group bins · purchase_frequency_days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44991" y="6270784"/>
            <a:ext cx="340162" cy="34016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297097" y="62637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Export to SQL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6297097" y="6844903"/>
            <a:ext cx="7547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Loaded cleaned data into Microsoft SQL Server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86627"/>
            <a:ext cx="85415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&amp; Spending Insights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90718"/>
            <a:ext cx="6244709" cy="3693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2493" y="3778448"/>
            <a:ext cx="234315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158k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3629954" y="5416748"/>
            <a:ext cx="25681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75.2k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7599521" y="28623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599521" y="344352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 customers generate </a:t>
            </a:r>
            <a:r>
              <a:rPr lang="en-US" sz="1750" b="1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2× more revenue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than female customers.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599521" y="437340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users average </a:t>
            </a: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$60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vs. Standard at </a:t>
            </a: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$58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a small but notable premium.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98000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60408"/>
            <a:ext cx="4196358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4948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🥇</a:t>
            </a: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Gloves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985260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Avg. Rating: </a:t>
            </a: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3.86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260408"/>
            <a:ext cx="4196358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1396" y="34948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🥈</a:t>
            </a: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Sandals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1396" y="3985260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Avg. Rating: </a:t>
            </a: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3.84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260408"/>
            <a:ext cx="4196358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4568" y="34948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🥉</a:t>
            </a: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Boots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4568" y="3985260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Avg. Rating: </a:t>
            </a: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3.82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809411"/>
            <a:ext cx="6407944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8224" y="50438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Hat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8224" y="5534263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Avg. Rating: </a:t>
            </a: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3.80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809411"/>
            <a:ext cx="6407944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62982" y="50438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Handbag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62982" y="5534263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Avg. Rating: </a:t>
            </a: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3.78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9841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010132"/>
            <a:ext cx="6244709" cy="36173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31355" y="5121340"/>
            <a:ext cx="2359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79.9%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1947032" y="2352608"/>
            <a:ext cx="2839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17.97%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2969087" y="1956792"/>
            <a:ext cx="2359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2.13%</a:t>
            </a:r>
            <a:endParaRPr lang="en-US" sz="650" dirty="0"/>
          </a:p>
        </p:txBody>
      </p:sp>
      <p:sp>
        <p:nvSpPr>
          <p:cNvPr id="7" name="Shape 4"/>
          <p:cNvSpPr/>
          <p:nvPr/>
        </p:nvSpPr>
        <p:spPr>
          <a:xfrm>
            <a:off x="5091470" y="3459718"/>
            <a:ext cx="806648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4810" y="3496270"/>
            <a:ext cx="91440" cy="914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66730" y="3482578"/>
            <a:ext cx="578048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5424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Loyal·79.9%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5489734" y="3482578"/>
            <a:ext cx="355044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5424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·79.9%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5526286" y="3482578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5424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5091470" y="3685223"/>
            <a:ext cx="1064657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4810" y="3721775"/>
            <a:ext cx="91440" cy="914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66730" y="3708083"/>
            <a:ext cx="83605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5424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Returning·17.97%</a:t>
            </a:r>
            <a:endParaRPr lang="en-US" sz="700" dirty="0"/>
          </a:p>
        </p:txBody>
      </p:sp>
      <p:sp>
        <p:nvSpPr>
          <p:cNvPr id="15" name="Text 10"/>
          <p:cNvSpPr/>
          <p:nvPr/>
        </p:nvSpPr>
        <p:spPr>
          <a:xfrm>
            <a:off x="5695355" y="3708083"/>
            <a:ext cx="407432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5424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·17.97%</a:t>
            </a:r>
            <a:endParaRPr lang="en-US" sz="700" dirty="0"/>
          </a:p>
        </p:txBody>
      </p:sp>
      <p:sp>
        <p:nvSpPr>
          <p:cNvPr id="16" name="Text 11"/>
          <p:cNvSpPr/>
          <p:nvPr/>
        </p:nvSpPr>
        <p:spPr>
          <a:xfrm>
            <a:off x="5731907" y="3708083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5424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7" name="Shape 12"/>
          <p:cNvSpPr/>
          <p:nvPr/>
        </p:nvSpPr>
        <p:spPr>
          <a:xfrm>
            <a:off x="5091470" y="3910727"/>
            <a:ext cx="774859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4810" y="3947279"/>
            <a:ext cx="91440" cy="914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66730" y="3933587"/>
            <a:ext cx="546259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5424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New·2.13%</a:t>
            </a:r>
            <a:endParaRPr lang="en-US" sz="700" dirty="0"/>
          </a:p>
        </p:txBody>
      </p:sp>
      <p:sp>
        <p:nvSpPr>
          <p:cNvPr id="20" name="Text 14"/>
          <p:cNvSpPr/>
          <p:nvPr/>
        </p:nvSpPr>
        <p:spPr>
          <a:xfrm>
            <a:off x="5457944" y="3933587"/>
            <a:ext cx="355044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5424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·2.13%</a:t>
            </a:r>
            <a:endParaRPr lang="en-US" sz="700" dirty="0"/>
          </a:p>
        </p:txBody>
      </p:sp>
      <p:sp>
        <p:nvSpPr>
          <p:cNvPr id="21" name="Text 15"/>
          <p:cNvSpPr/>
          <p:nvPr/>
        </p:nvSpPr>
        <p:spPr>
          <a:xfrm>
            <a:off x="5494496" y="3933587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5424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22" name="Text 16"/>
          <p:cNvSpPr/>
          <p:nvPr/>
        </p:nvSpPr>
        <p:spPr>
          <a:xfrm>
            <a:off x="7599521" y="1905595"/>
            <a:ext cx="30057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Segment Breakdown</a:t>
            </a:r>
            <a:endParaRPr lang="en-US" sz="2200" dirty="0"/>
          </a:p>
        </p:txBody>
      </p:sp>
      <p:sp>
        <p:nvSpPr>
          <p:cNvPr id="23" name="Shape 17"/>
          <p:cNvSpPr/>
          <p:nvPr/>
        </p:nvSpPr>
        <p:spPr>
          <a:xfrm>
            <a:off x="7599521" y="2515076"/>
            <a:ext cx="6244709" cy="1458635"/>
          </a:xfrm>
          <a:prstGeom prst="roundRect">
            <a:avLst>
              <a:gd name="adj" fmla="val 10030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569041" y="2515076"/>
            <a:ext cx="121920" cy="1458635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</p:sp>
      <p:sp>
        <p:nvSpPr>
          <p:cNvPr id="25" name="Text 19"/>
          <p:cNvSpPr/>
          <p:nvPr/>
        </p:nvSpPr>
        <p:spPr>
          <a:xfrm>
            <a:off x="7948255" y="27723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 — 3,116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7948255" y="3353514"/>
            <a:ext cx="563868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&gt;5 purchases; 958 are subscribers</a:t>
            </a:r>
            <a:endParaRPr lang="en-US" sz="1750" dirty="0"/>
          </a:p>
        </p:txBody>
      </p:sp>
      <p:sp>
        <p:nvSpPr>
          <p:cNvPr id="27" name="Shape 21"/>
          <p:cNvSpPr/>
          <p:nvPr/>
        </p:nvSpPr>
        <p:spPr>
          <a:xfrm>
            <a:off x="7599521" y="4200525"/>
            <a:ext cx="6244709" cy="1458635"/>
          </a:xfrm>
          <a:prstGeom prst="roundRect">
            <a:avLst>
              <a:gd name="adj" fmla="val 10030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569041" y="4200525"/>
            <a:ext cx="121920" cy="1458635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</p:sp>
      <p:sp>
        <p:nvSpPr>
          <p:cNvPr id="29" name="Text 23"/>
          <p:cNvSpPr/>
          <p:nvPr/>
        </p:nvSpPr>
        <p:spPr>
          <a:xfrm>
            <a:off x="7948255" y="44578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 — 701</a:t>
            </a:r>
            <a:endParaRPr lang="en-US" sz="2200" dirty="0"/>
          </a:p>
        </p:txBody>
      </p:sp>
      <p:sp>
        <p:nvSpPr>
          <p:cNvPr id="30" name="Text 24"/>
          <p:cNvSpPr/>
          <p:nvPr/>
        </p:nvSpPr>
        <p:spPr>
          <a:xfrm>
            <a:off x="7948255" y="5038963"/>
            <a:ext cx="563868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Engaged but not yet loyal</a:t>
            </a:r>
            <a:endParaRPr lang="en-US" sz="1750" dirty="0"/>
          </a:p>
        </p:txBody>
      </p:sp>
      <p:sp>
        <p:nvSpPr>
          <p:cNvPr id="31" name="Shape 25"/>
          <p:cNvSpPr/>
          <p:nvPr/>
        </p:nvSpPr>
        <p:spPr>
          <a:xfrm>
            <a:off x="7599521" y="5885974"/>
            <a:ext cx="6244709" cy="1458635"/>
          </a:xfrm>
          <a:prstGeom prst="roundRect">
            <a:avLst>
              <a:gd name="adj" fmla="val 10030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7569041" y="5885974"/>
            <a:ext cx="121920" cy="1458635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</p:sp>
      <p:sp>
        <p:nvSpPr>
          <p:cNvPr id="33" name="Text 27"/>
          <p:cNvSpPr/>
          <p:nvPr/>
        </p:nvSpPr>
        <p:spPr>
          <a:xfrm>
            <a:off x="7948255" y="61432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 — 83</a:t>
            </a:r>
            <a:endParaRPr lang="en-US" sz="2200" dirty="0"/>
          </a:p>
        </p:txBody>
      </p:sp>
      <p:sp>
        <p:nvSpPr>
          <p:cNvPr id="34" name="Text 28"/>
          <p:cNvSpPr/>
          <p:nvPr/>
        </p:nvSpPr>
        <p:spPr>
          <a:xfrm>
            <a:off x="7948255" y="6724412"/>
            <a:ext cx="563868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Acquisition pipeline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6014" y="479465"/>
            <a:ext cx="5733098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Subscriptions &amp; Discounts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3294340" y="2371963"/>
            <a:ext cx="209240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3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27%</a:t>
            </a:r>
            <a:endParaRPr lang="en-US" sz="3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4788" y="1308735"/>
            <a:ext cx="2551748" cy="25517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77433" y="4030504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Subscribers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446014" y="4372689"/>
            <a:ext cx="578941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1,053 customers · $62,645 revenue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243179" y="2371963"/>
            <a:ext cx="209240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3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73%</a:t>
            </a:r>
            <a:endParaRPr lang="en-US" sz="3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3627" y="1308735"/>
            <a:ext cx="2551748" cy="25517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226272" y="4030504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Non-Subscribers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7394853" y="4372689"/>
            <a:ext cx="578941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2,847 customers · $170,436 revenue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446014" y="4802148"/>
            <a:ext cx="391358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Most Discount-Dependent Products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1446014" y="5259229"/>
            <a:ext cx="11738253" cy="2490788"/>
          </a:xfrm>
          <a:prstGeom prst="roundRect">
            <a:avLst>
              <a:gd name="adj" fmla="val 286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623774" y="5350907"/>
            <a:ext cx="552140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485221" y="5350907"/>
            <a:ext cx="552140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Discount Rate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623774" y="5764768"/>
            <a:ext cx="552140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485221" y="5764768"/>
            <a:ext cx="552140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623774" y="6178629"/>
            <a:ext cx="552140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Coat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485221" y="6178629"/>
            <a:ext cx="552140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49%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623774" y="6592491"/>
            <a:ext cx="552140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Sneakers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7485221" y="6592491"/>
            <a:ext cx="552140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49%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623774" y="7006352"/>
            <a:ext cx="552140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Sweater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7485221" y="7006352"/>
            <a:ext cx="552140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48%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1623774" y="7420213"/>
            <a:ext cx="552140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Pants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7485221" y="7420213"/>
            <a:ext cx="552140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47%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26808"/>
            <a:ext cx="66778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Age Group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430899"/>
            <a:ext cx="6244709" cy="3693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25697" y="2898577"/>
            <a:ext cx="25681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62.1k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6166797" y="3696772"/>
            <a:ext cx="25681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59.2k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5967424" y="4494967"/>
            <a:ext cx="186452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56k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5878375" y="5293162"/>
            <a:ext cx="25681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55.8k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7599521" y="2402562"/>
            <a:ext cx="37751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Products by Category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7599521" y="3012043"/>
            <a:ext cx="6244709" cy="2616518"/>
          </a:xfrm>
          <a:prstGeom prst="roundRect">
            <a:avLst>
              <a:gd name="adj" fmla="val 364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07141" y="3019663"/>
            <a:ext cx="6228755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834789" y="3163372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Category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9914573" y="3163372"/>
            <a:ext cx="1614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#1 Product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1990546" y="3163372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Orders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7607141" y="3669982"/>
            <a:ext cx="6228755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7834789" y="3813691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Clothing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9914573" y="3813691"/>
            <a:ext cx="1614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Blouse / Pants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11990546" y="3813691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171</a:t>
            </a:r>
            <a:endParaRPr lang="en-US" sz="1750" dirty="0"/>
          </a:p>
        </p:txBody>
      </p:sp>
      <p:sp>
        <p:nvSpPr>
          <p:cNvPr id="18" name="Shape 15"/>
          <p:cNvSpPr/>
          <p:nvPr/>
        </p:nvSpPr>
        <p:spPr>
          <a:xfrm>
            <a:off x="7607141" y="4320302"/>
            <a:ext cx="6228755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7834789" y="4464010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Footwear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9914573" y="4464010"/>
            <a:ext cx="1614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Sandals</a:t>
            </a:r>
            <a:endParaRPr lang="en-US" sz="1750" dirty="0"/>
          </a:p>
        </p:txBody>
      </p:sp>
      <p:sp>
        <p:nvSpPr>
          <p:cNvPr id="21" name="Text 18"/>
          <p:cNvSpPr/>
          <p:nvPr/>
        </p:nvSpPr>
        <p:spPr>
          <a:xfrm>
            <a:off x="11990546" y="4464010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160</a:t>
            </a:r>
            <a:endParaRPr lang="en-US" sz="1750" dirty="0"/>
          </a:p>
        </p:txBody>
      </p:sp>
      <p:sp>
        <p:nvSpPr>
          <p:cNvPr id="22" name="Shape 19"/>
          <p:cNvSpPr/>
          <p:nvPr/>
        </p:nvSpPr>
        <p:spPr>
          <a:xfrm>
            <a:off x="7607141" y="4970621"/>
            <a:ext cx="6228755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7834789" y="5114330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Outerwear</a:t>
            </a:r>
            <a:endParaRPr lang="en-US" sz="1750" dirty="0"/>
          </a:p>
        </p:txBody>
      </p:sp>
      <p:sp>
        <p:nvSpPr>
          <p:cNvPr id="24" name="Text 21"/>
          <p:cNvSpPr/>
          <p:nvPr/>
        </p:nvSpPr>
        <p:spPr>
          <a:xfrm>
            <a:off x="9914573" y="5114330"/>
            <a:ext cx="1614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Jacket</a:t>
            </a:r>
            <a:endParaRPr lang="en-US" sz="1750" dirty="0"/>
          </a:p>
        </p:txBody>
      </p:sp>
      <p:sp>
        <p:nvSpPr>
          <p:cNvPr id="25" name="Text 22"/>
          <p:cNvSpPr/>
          <p:nvPr/>
        </p:nvSpPr>
        <p:spPr>
          <a:xfrm>
            <a:off x="11990546" y="5114330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163</a:t>
            </a:r>
            <a:endParaRPr lang="en-US" sz="1750" dirty="0"/>
          </a:p>
        </p:txBody>
      </p:sp>
      <p:sp>
        <p:nvSpPr>
          <p:cNvPr id="26" name="Shape 23"/>
          <p:cNvSpPr/>
          <p:nvPr/>
        </p:nvSpPr>
        <p:spPr>
          <a:xfrm>
            <a:off x="7599521" y="5883712"/>
            <a:ext cx="6244709" cy="963811"/>
          </a:xfrm>
          <a:prstGeom prst="roundRect">
            <a:avLst>
              <a:gd name="adj" fmla="val 9884"/>
            </a:avLst>
          </a:prstGeom>
          <a:solidFill>
            <a:srgbClr val="F3E4BF"/>
          </a:solidFill>
          <a:ln/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6335" y="6227802"/>
            <a:ext cx="283488" cy="22681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8336637" y="6167199"/>
            <a:ext cx="52807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Adults</a:t>
            </a: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lead revenue at $62,143.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2510076"/>
            <a:ext cx="3898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 Dashboard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67795"/>
            <a:ext cx="38988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Interactive filters for Subscription Status, Gender, Category &amp; Shipping Type — six live visualizations in one view.</a:t>
            </a:r>
            <a:endParaRPr lang="en-US" sz="17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E1874C-9D9D-0025-FF51-95CC8B16A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951" y="0"/>
            <a:ext cx="9728461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3383"/>
            <a:ext cx="81537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Recommendations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515791"/>
            <a:ext cx="453628" cy="453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252907"/>
            <a:ext cx="28808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743325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subscriber benefits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2515791"/>
            <a:ext cx="453628" cy="4536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374332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→ move to Loyal segment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7995" y="2515791"/>
            <a:ext cx="453628" cy="4536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3252907"/>
            <a:ext cx="34028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Discount Policy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374332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sales boosts with margin control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922758"/>
            <a:ext cx="453628" cy="45362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93790" y="5659874"/>
            <a:ext cx="28592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93790" y="615029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age groups &amp; express-shipping users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5893" y="4922758"/>
            <a:ext cx="453628" cy="45362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35893" y="5659874"/>
            <a:ext cx="28763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5235893" y="615029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&amp; best-selling items in campaigns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653</Words>
  <Application>Microsoft Office PowerPoint</Application>
  <PresentationFormat>Custom</PresentationFormat>
  <Paragraphs>122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Libre Baskerville</vt:lpstr>
      <vt:lpstr>-apple-system, BlinkMacSystemFont, Segoe UI, Roboto, Helvetica Neue, Arial, sans-serif Medium</vt:lpstr>
      <vt:lpstr>DM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Krushil Sutariya</dc:creator>
  <cp:lastModifiedBy>Krushil Sutariya</cp:lastModifiedBy>
  <cp:revision>3</cp:revision>
  <dcterms:created xsi:type="dcterms:W3CDTF">2026-04-21T13:04:38Z</dcterms:created>
  <dcterms:modified xsi:type="dcterms:W3CDTF">2026-09-24T05:34:29Z</dcterms:modified>
</cp:coreProperties>
</file>