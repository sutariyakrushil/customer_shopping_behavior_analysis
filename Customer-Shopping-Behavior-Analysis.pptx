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4630400" cy="8229600"/>
  <p:notesSz cx="8229600" cy="14630400"/>
  <p:embeddedFontLst>
    <p:embeddedFont>
      <p:font typeface="Libre Baskerville"/>
      <p:regular r:id="rId17"/>
    </p:embeddedFont>
    <p:embeddedFont>
      <p:font typeface="Libre Baskerville"/>
      <p:regular r:id="rId18"/>
    </p:embeddedFont>
    <p:embeddedFont>
      <p:font typeface="Libre Baskerville"/>
      <p:regular r:id="rId19"/>
    </p:embeddedFont>
    <p:embeddedFont>
      <p:font typeface="Libre Baskerville"/>
      <p:regular r:id="rId20"/>
    </p:embeddedFont>
    <p:embeddedFont>
      <p:font typeface="DM Sans"/>
      <p:regular r:id="rId21"/>
    </p:embeddedFont>
    <p:embeddedFont>
      <p:font typeface="DM Sans"/>
      <p:regular r:id="rId22"/>
    </p:embeddedFont>
    <p:embeddedFont>
      <p:font typeface="DM Sans"/>
      <p:regular r:id="rId23"/>
    </p:embeddedFont>
    <p:embeddedFont>
      <p:font typeface="DM Sans"/>
      <p:regular r:id="rId24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font" Target="fonts/font1.fntdata"/><Relationship Id="rId18" Type="http://schemas.openxmlformats.org/officeDocument/2006/relationships/font" Target="fonts/font2.fntdata"/><Relationship Id="rId19" Type="http://schemas.openxmlformats.org/officeDocument/2006/relationships/font" Target="fonts/font3.fntdata"/><Relationship Id="rId20" Type="http://schemas.openxmlformats.org/officeDocument/2006/relationships/font" Target="fonts/font4.fntdata"/><Relationship Id="rId21" Type="http://schemas.openxmlformats.org/officeDocument/2006/relationships/font" Target="fonts/font5.fntdata"/><Relationship Id="rId22" Type="http://schemas.openxmlformats.org/officeDocument/2006/relationships/font" Target="fonts/font6.fntdata"/><Relationship Id="rId23" Type="http://schemas.openxmlformats.org/officeDocument/2006/relationships/font" Target="fonts/font7.fntdata"/><Relationship Id="rId24" Type="http://schemas.openxmlformats.org/officeDocument/2006/relationships/font" Target="fonts/font8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Revenue peaks with Young Adults at $62,143 — about $3,000 more than Middle-aged customers • Notice the decline is gradual across age groups, with Senior customers at the lower end but still generating meaningful revenue at $55,763 • All age groups are within a relatively tight range, suggesting consistent purchasing power across demographics
• Top products tell an interesting story by category:
Clothing dominates with Blouses/Pants leading at 171 orders
Footwear close behind with Sandals at 160 orders
Outerwear competitive with Jackets at 163 orders
• Key takeaway: Young Adults are our revenue drivers, but we shouldn't overlook the other age segments — they're all performing similarly in terms of order volume, so the revenue difference may reflect higher average order values from younger customers rather than volume differences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This is our Power BI Dashboard — the central hub for all our key metrics and insights
• Notice the interactive filters at the top — you can slice the data by Subscription Status, Gender, Category, and Shipping Type
• These filters work across all six visualizations simultaneously, so you can drill down into specific segments in real-time
• All the charts update instantly as you adjust the filters, making it easy to explore different scenarios and answer questions on the fly
• This dashboard gives us a complete view of our business performance in a single, interactive interface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2" Type="http://schemas.openxmlformats.org/officeDocument/2006/relationships/image" Target="../media/image-1002-2.png"/><Relationship Id="rId4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png"/><Relationship Id="rId2" Type="http://schemas.openxmlformats.org/officeDocument/2006/relationships/image" Target="../media/image-1003-2.png"/><Relationship Id="rId4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png"/><Relationship Id="rId2" Type="http://schemas.openxmlformats.org/officeDocument/2006/relationships/image" Target="../media/image-1004-2.png"/><Relationship Id="rId4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5-1.png"/><Relationship Id="rId2" Type="http://schemas.openxmlformats.org/officeDocument/2006/relationships/image" Target="../media/image-1005-2.png"/><Relationship Id="rId4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6-1.png"/><Relationship Id="rId2" Type="http://schemas.openxmlformats.org/officeDocument/2006/relationships/image" Target="../media/image-1006-2.png"/><Relationship Id="rId4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7-1.png"/><Relationship Id="rId2" Type="http://schemas.openxmlformats.org/officeDocument/2006/relationships/image" Target="../media/image-1007-2.png"/><Relationship Id="rId4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8-1.png"/><Relationship Id="rId2" Type="http://schemas.openxmlformats.org/officeDocument/2006/relationships/image" Target="../media/image-1008-2.png"/><Relationship Id="rId4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9-1.png"/><Relationship Id="rId2" Type="http://schemas.openxmlformats.org/officeDocument/2006/relationships/image" Target="../media/image-1009-2.png"/><Relationship Id="rId4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0-1.png"/><Relationship Id="rId2" Type="http://schemas.openxmlformats.org/officeDocument/2006/relationships/image" Target="../media/image-1010-2.png"/><Relationship Id="rId4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1-1.png"/><Relationship Id="rId2" Type="http://schemas.openxmlformats.org/officeDocument/2006/relationships/image" Target="../media/image-1011-2.png"/><Relationship Id="rId4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DFA"/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DFA"/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DFA"/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DFA"/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DFA"/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DFA"/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DFA"/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DFA"/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DFA"/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DFA"/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svg"/><Relationship Id="rId4" Type="http://schemas.openxmlformats.org/officeDocument/2006/relationships/image" Target="../media/image-3-4.png"/><Relationship Id="rId5" Type="http://schemas.openxmlformats.org/officeDocument/2006/relationships/image" Target="../media/image-3-5.svg"/><Relationship Id="rId6" Type="http://schemas.openxmlformats.org/officeDocument/2006/relationships/image" Target="../media/image-3-6.png"/><Relationship Id="rId7" Type="http://schemas.openxmlformats.org/officeDocument/2006/relationships/image" Target="../media/image-3-7.svg"/><Relationship Id="rId8" Type="http://schemas.openxmlformats.org/officeDocument/2006/relationships/image" Target="../media/image-3-8.png"/><Relationship Id="rId9" Type="http://schemas.openxmlformats.org/officeDocument/2006/relationships/image" Target="../media/image-3-9.svg"/><Relationship Id="rId10" Type="http://schemas.openxmlformats.org/officeDocument/2006/relationships/slideLayout" Target="../slideLayouts/slideLayout4.xml"/><Relationship Id="rId11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7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8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9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0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svg"/><Relationship Id="rId3" Type="http://schemas.openxmlformats.org/officeDocument/2006/relationships/image" Target="../media/image-10-3.png"/><Relationship Id="rId4" Type="http://schemas.openxmlformats.org/officeDocument/2006/relationships/image" Target="../media/image-10-4.svg"/><Relationship Id="rId5" Type="http://schemas.openxmlformats.org/officeDocument/2006/relationships/image" Target="../media/image-10-5.png"/><Relationship Id="rId6" Type="http://schemas.openxmlformats.org/officeDocument/2006/relationships/image" Target="../media/image-10-6.svg"/><Relationship Id="rId7" Type="http://schemas.openxmlformats.org/officeDocument/2006/relationships/image" Target="../media/image-10-7.png"/><Relationship Id="rId8" Type="http://schemas.openxmlformats.org/officeDocument/2006/relationships/image" Target="../media/image-10-8.svg"/><Relationship Id="rId9" Type="http://schemas.openxmlformats.org/officeDocument/2006/relationships/image" Target="../media/image-10-9.png"/><Relationship Id="rId10" Type="http://schemas.openxmlformats.org/officeDocument/2006/relationships/image" Target="../media/image-10-10.svg"/><Relationship Id="rId11" Type="http://schemas.openxmlformats.org/officeDocument/2006/relationships/slideLayout" Target="../slideLayouts/slideLayout11.xml"/><Relationship Id="rId1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0" y="0"/>
            <a:ext cx="5486400" cy="8229600"/>
          </a:xfrm>
          <a:prstGeom prst="rect">
            <a:avLst/>
          </a:prstGeom>
          <a:solidFill>
            <a:srgbClr val="F7EDD4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57348" y="170021"/>
            <a:ext cx="5259705" cy="788955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93790" y="2872978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Customer Shopping Behavior Analysis</a:t>
            </a:r>
            <a:endParaRPr lang="en-US" sz="4450" dirty="0"/>
          </a:p>
        </p:txBody>
      </p:sp>
      <p:sp>
        <p:nvSpPr>
          <p:cNvPr id="5" name="Text 2"/>
          <p:cNvSpPr/>
          <p:nvPr/>
        </p:nvSpPr>
        <p:spPr>
          <a:xfrm>
            <a:off x="793790" y="4630698"/>
            <a:ext cx="75564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Uncovering insights from </a:t>
            </a:r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3,900 transactions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across product categories to guide strategic business decisions.</a:t>
            </a:r>
            <a:endParaRPr lang="en-US" sz="1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498283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Dataset at a Glance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774037"/>
            <a:ext cx="6379607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5850"/>
              </a:lnSpc>
              <a:buNone/>
            </a:pPr>
            <a:r>
              <a:rPr lang="en-US" sz="58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3,900</a:t>
            </a:r>
            <a:endParaRPr lang="en-US" sz="5850" dirty="0"/>
          </a:p>
        </p:txBody>
      </p:sp>
      <p:sp>
        <p:nvSpPr>
          <p:cNvPr id="4" name="Text 2"/>
          <p:cNvSpPr/>
          <p:nvPr/>
        </p:nvSpPr>
        <p:spPr>
          <a:xfrm>
            <a:off x="2565916" y="380583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Transactions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456884" y="2774037"/>
            <a:ext cx="6379726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5850"/>
              </a:lnSpc>
              <a:buNone/>
            </a:pPr>
            <a:r>
              <a:rPr lang="en-US" sz="58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18</a:t>
            </a:r>
            <a:endParaRPr lang="en-US" sz="5850" dirty="0"/>
          </a:p>
        </p:txBody>
      </p:sp>
      <p:sp>
        <p:nvSpPr>
          <p:cNvPr id="6" name="Text 4"/>
          <p:cNvSpPr/>
          <p:nvPr/>
        </p:nvSpPr>
        <p:spPr>
          <a:xfrm>
            <a:off x="9229130" y="380583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Features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93790" y="4727138"/>
            <a:ext cx="6379607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5850"/>
              </a:lnSpc>
              <a:buNone/>
            </a:pPr>
            <a:r>
              <a:rPr lang="en-US" sz="58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$59.76</a:t>
            </a:r>
            <a:endParaRPr lang="en-US" sz="5850" dirty="0"/>
          </a:p>
        </p:txBody>
      </p:sp>
      <p:sp>
        <p:nvSpPr>
          <p:cNvPr id="8" name="Text 6"/>
          <p:cNvSpPr/>
          <p:nvPr/>
        </p:nvSpPr>
        <p:spPr>
          <a:xfrm>
            <a:off x="2565916" y="575893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Avg. Purchase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7456884" y="4727138"/>
            <a:ext cx="6379726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5850"/>
              </a:lnSpc>
              <a:buNone/>
            </a:pPr>
            <a:r>
              <a:rPr lang="en-US" sz="58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3.75</a:t>
            </a:r>
            <a:endParaRPr lang="en-US" sz="5850" dirty="0"/>
          </a:p>
        </p:txBody>
      </p:sp>
      <p:sp>
        <p:nvSpPr>
          <p:cNvPr id="10" name="Text 8"/>
          <p:cNvSpPr/>
          <p:nvPr/>
        </p:nvSpPr>
        <p:spPr>
          <a:xfrm>
            <a:off x="9229130" y="575893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Avg. Rating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793790" y="6368415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Demographics · Purchase details · Shopping behavior · Subscription status</a:t>
            </a:r>
            <a:endParaRPr lang="en-US" sz="1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766643"/>
            <a:ext cx="7954685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Data Preparation in Python</a:t>
            </a:r>
            <a:endParaRPr lang="en-US" sz="44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3790" y="2536627"/>
            <a:ext cx="4205168" cy="4205168"/>
          </a:xfrm>
          <a:prstGeom prst="rect">
            <a:avLst/>
          </a:prstGeom>
        </p:spPr>
      </p:pic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644991" y="2077760"/>
            <a:ext cx="340162" cy="340162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6297097" y="207073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Load &amp; Explore</a:t>
            </a:r>
            <a:endParaRPr lang="en-US" sz="2200" dirty="0"/>
          </a:p>
        </p:txBody>
      </p:sp>
      <p:sp>
        <p:nvSpPr>
          <p:cNvPr id="6" name="Text 2"/>
          <p:cNvSpPr/>
          <p:nvPr/>
        </p:nvSpPr>
        <p:spPr>
          <a:xfrm>
            <a:off x="6297097" y="2651879"/>
            <a:ext cx="754701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pandas, df.info(), .describe()</a:t>
            </a:r>
            <a:endParaRPr lang="en-US" sz="175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644991" y="3475434"/>
            <a:ext cx="340162" cy="340162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6297097" y="346841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Clean &amp; Impute</a:t>
            </a:r>
            <a:endParaRPr lang="en-US" sz="2200" dirty="0"/>
          </a:p>
        </p:txBody>
      </p:sp>
      <p:sp>
        <p:nvSpPr>
          <p:cNvPr id="9" name="Text 4"/>
          <p:cNvSpPr/>
          <p:nvPr/>
        </p:nvSpPr>
        <p:spPr>
          <a:xfrm>
            <a:off x="6297097" y="4049554"/>
            <a:ext cx="754701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Median-filled Review Ratings; dropped redundant promo_code_used</a:t>
            </a:r>
            <a:endParaRPr lang="en-US" sz="175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644991" y="4873109"/>
            <a:ext cx="340162" cy="340162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6297097" y="4866084"/>
            <a:ext cx="2954417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Feature Engineering</a:t>
            </a:r>
            <a:endParaRPr lang="en-US" sz="2200" dirty="0"/>
          </a:p>
        </p:txBody>
      </p:sp>
      <p:sp>
        <p:nvSpPr>
          <p:cNvPr id="12" name="Text 6"/>
          <p:cNvSpPr/>
          <p:nvPr/>
        </p:nvSpPr>
        <p:spPr>
          <a:xfrm>
            <a:off x="6297097" y="5447228"/>
            <a:ext cx="754701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age_group bins · purchase_frequency_days</a:t>
            </a:r>
            <a:endParaRPr lang="en-US" sz="1750" dirty="0"/>
          </a:p>
        </p:txBody>
      </p:sp>
      <p:pic>
        <p:nvPicPr>
          <p:cNvPr id="13" name="Image 4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644991" y="6270784"/>
            <a:ext cx="340162" cy="340162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6297097" y="626375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Export to SQL</a:t>
            </a:r>
            <a:endParaRPr lang="en-US" sz="2200" dirty="0"/>
          </a:p>
        </p:txBody>
      </p:sp>
      <p:sp>
        <p:nvSpPr>
          <p:cNvPr id="15" name="Text 8"/>
          <p:cNvSpPr/>
          <p:nvPr/>
        </p:nvSpPr>
        <p:spPr>
          <a:xfrm>
            <a:off x="6297097" y="6844903"/>
            <a:ext cx="754701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Loaded cleaned data into Microsoft SQL Server</a:t>
            </a:r>
            <a:endParaRPr lang="en-US" sz="1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586627"/>
            <a:ext cx="8541544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Revenue &amp; Spending Insights</a:t>
            </a:r>
            <a:endParaRPr lang="en-US" sz="44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3790" y="2890718"/>
            <a:ext cx="6244709" cy="369343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612493" y="3778448"/>
            <a:ext cx="234315" cy="144780"/>
          </a:xfrm>
          <a:prstGeom prst="rect">
            <a:avLst/>
          </a:prstGeom>
          <a:noFill/>
          <a:ln/>
        </p:spPr>
        <p:txBody>
          <a:bodyPr wrap="square" lIns="30480" tIns="30480" rIns="30480" bIns="30480" rtlCol="0" anchor="t"/>
          <a:lstStyle/>
          <a:p>
            <a:pPr algn="l" indent="0" marL="0">
              <a:lnSpc>
                <a:spcPts val="650"/>
              </a:lnSpc>
              <a:buNone/>
            </a:pPr>
            <a:r>
              <a:rPr lang="en-US" sz="650" dirty="0">
                <a:solidFill>
                  <a:srgbClr val="FFFFFF"/>
                </a:solidFill>
                <a:latin typeface="-apple-system, BlinkMacSystemFont, Segoe UI, Roboto, Helvetica Neue, Arial, sans-serif Medium" pitchFamily="34" charset="0"/>
                <a:ea typeface="-apple-system, BlinkMacSystemFont, Segoe UI, Roboto, Helvetica Neue, Arial, sans-serif Medium" pitchFamily="34" charset="-122"/>
                <a:cs typeface="-apple-system, BlinkMacSystemFont, Segoe UI, Roboto, Helvetica Neue, Arial, sans-serif Medium" pitchFamily="34" charset="-120"/>
              </a:rPr>
              <a:t>158k</a:t>
            </a:r>
            <a:endParaRPr lang="en-US" sz="650" dirty="0"/>
          </a:p>
        </p:txBody>
      </p:sp>
      <p:sp>
        <p:nvSpPr>
          <p:cNvPr id="5" name="Text 2"/>
          <p:cNvSpPr/>
          <p:nvPr/>
        </p:nvSpPr>
        <p:spPr>
          <a:xfrm>
            <a:off x="3629954" y="5416748"/>
            <a:ext cx="256818" cy="144780"/>
          </a:xfrm>
          <a:prstGeom prst="rect">
            <a:avLst/>
          </a:prstGeom>
          <a:noFill/>
          <a:ln/>
        </p:spPr>
        <p:txBody>
          <a:bodyPr wrap="square" lIns="30480" tIns="30480" rIns="30480" bIns="30480" rtlCol="0" anchor="t"/>
          <a:lstStyle/>
          <a:p>
            <a:pPr algn="l" indent="0" marL="0">
              <a:lnSpc>
                <a:spcPts val="650"/>
              </a:lnSpc>
              <a:buNone/>
            </a:pPr>
            <a:r>
              <a:rPr lang="en-US" sz="650" dirty="0">
                <a:solidFill>
                  <a:srgbClr val="000000"/>
                </a:solidFill>
                <a:latin typeface="-apple-system, BlinkMacSystemFont, Segoe UI, Roboto, Helvetica Neue, Arial, sans-serif Medium" pitchFamily="34" charset="0"/>
                <a:ea typeface="-apple-system, BlinkMacSystemFont, Segoe UI, Roboto, Helvetica Neue, Arial, sans-serif Medium" pitchFamily="34" charset="-122"/>
                <a:cs typeface="-apple-system, BlinkMacSystemFont, Segoe UI, Roboto, Helvetica Neue, Arial, sans-serif Medium" pitchFamily="34" charset="-120"/>
              </a:rPr>
              <a:t>75.2k</a:t>
            </a:r>
            <a:endParaRPr lang="en-US" sz="650" dirty="0"/>
          </a:p>
        </p:txBody>
      </p:sp>
      <p:sp>
        <p:nvSpPr>
          <p:cNvPr id="6" name="Text 3"/>
          <p:cNvSpPr/>
          <p:nvPr/>
        </p:nvSpPr>
        <p:spPr>
          <a:xfrm>
            <a:off x="7599521" y="286238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Key Findings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7599521" y="3443526"/>
            <a:ext cx="624470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Male customers generate </a:t>
            </a:r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B88E2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2× more revenue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than female customers.</a:t>
            </a:r>
            <a:endParaRPr lang="en-US" sz="1750" dirty="0"/>
          </a:p>
        </p:txBody>
      </p:sp>
      <p:sp>
        <p:nvSpPr>
          <p:cNvPr id="8" name="Text 5"/>
          <p:cNvSpPr/>
          <p:nvPr/>
        </p:nvSpPr>
        <p:spPr>
          <a:xfrm>
            <a:off x="7599521" y="4373404"/>
            <a:ext cx="624470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Express shipping users average </a:t>
            </a:r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$60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vs. Standard at </a:t>
            </a:r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$58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— a small but notable premium.</a:t>
            </a:r>
            <a:endParaRPr lang="en-US" sz="1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098000"/>
            <a:ext cx="5812631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Top-Rated Products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93790" y="3260408"/>
            <a:ext cx="4196358" cy="1322189"/>
          </a:xfrm>
          <a:prstGeom prst="roundRect">
            <a:avLst>
              <a:gd name="adj" fmla="val 7205"/>
            </a:avLst>
          </a:prstGeom>
          <a:solidFill>
            <a:srgbClr val="F7EDD4"/>
          </a:solidFill>
          <a:ln w="7620">
            <a:solidFill>
              <a:srgbClr val="DDD3B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28224" y="349484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🥇</a:t>
            </a:r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 Gloves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028224" y="3985260"/>
            <a:ext cx="3727490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Avg. Rating: </a:t>
            </a:r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3.86</a:t>
            </a:r>
            <a:endParaRPr lang="en-US" sz="1750" dirty="0"/>
          </a:p>
        </p:txBody>
      </p:sp>
      <p:sp>
        <p:nvSpPr>
          <p:cNvPr id="6" name="Shape 4"/>
          <p:cNvSpPr/>
          <p:nvPr/>
        </p:nvSpPr>
        <p:spPr>
          <a:xfrm>
            <a:off x="5216962" y="3260408"/>
            <a:ext cx="4196358" cy="1322189"/>
          </a:xfrm>
          <a:prstGeom prst="roundRect">
            <a:avLst>
              <a:gd name="adj" fmla="val 7205"/>
            </a:avLst>
          </a:prstGeom>
          <a:solidFill>
            <a:srgbClr val="F7EDD4"/>
          </a:solidFill>
          <a:ln w="7620">
            <a:solidFill>
              <a:srgbClr val="DDD3B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51396" y="349484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🥈</a:t>
            </a:r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 Sandals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5451396" y="3985260"/>
            <a:ext cx="3727490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Avg. Rating: </a:t>
            </a:r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3.84</a:t>
            </a:r>
            <a:endParaRPr lang="en-US" sz="1750" dirty="0"/>
          </a:p>
        </p:txBody>
      </p:sp>
      <p:sp>
        <p:nvSpPr>
          <p:cNvPr id="9" name="Shape 7"/>
          <p:cNvSpPr/>
          <p:nvPr/>
        </p:nvSpPr>
        <p:spPr>
          <a:xfrm>
            <a:off x="9640133" y="3260408"/>
            <a:ext cx="4196358" cy="1322189"/>
          </a:xfrm>
          <a:prstGeom prst="roundRect">
            <a:avLst>
              <a:gd name="adj" fmla="val 7205"/>
            </a:avLst>
          </a:prstGeom>
          <a:solidFill>
            <a:srgbClr val="F7EDD4"/>
          </a:solidFill>
          <a:ln w="7620">
            <a:solidFill>
              <a:srgbClr val="DDD3B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874568" y="349484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🥉</a:t>
            </a:r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 Boots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9874568" y="3985260"/>
            <a:ext cx="3727490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Avg. Rating: </a:t>
            </a:r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3.82</a:t>
            </a:r>
            <a:endParaRPr lang="en-US" sz="1750" dirty="0"/>
          </a:p>
        </p:txBody>
      </p:sp>
      <p:sp>
        <p:nvSpPr>
          <p:cNvPr id="12" name="Shape 10"/>
          <p:cNvSpPr/>
          <p:nvPr/>
        </p:nvSpPr>
        <p:spPr>
          <a:xfrm>
            <a:off x="793790" y="4809411"/>
            <a:ext cx="6407944" cy="1322189"/>
          </a:xfrm>
          <a:prstGeom prst="roundRect">
            <a:avLst>
              <a:gd name="adj" fmla="val 7205"/>
            </a:avLst>
          </a:prstGeom>
          <a:solidFill>
            <a:srgbClr val="F7EDD4"/>
          </a:solidFill>
          <a:ln w="7620">
            <a:solidFill>
              <a:srgbClr val="DDD3B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28224" y="504384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Hat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028224" y="5534263"/>
            <a:ext cx="593907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Avg. Rating: </a:t>
            </a:r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3.80</a:t>
            </a:r>
            <a:endParaRPr lang="en-US" sz="1750" dirty="0"/>
          </a:p>
        </p:txBody>
      </p:sp>
      <p:sp>
        <p:nvSpPr>
          <p:cNvPr id="15" name="Shape 13"/>
          <p:cNvSpPr/>
          <p:nvPr/>
        </p:nvSpPr>
        <p:spPr>
          <a:xfrm>
            <a:off x="7428548" y="4809411"/>
            <a:ext cx="6407944" cy="1322189"/>
          </a:xfrm>
          <a:prstGeom prst="roundRect">
            <a:avLst>
              <a:gd name="adj" fmla="val 7205"/>
            </a:avLst>
          </a:prstGeom>
          <a:solidFill>
            <a:srgbClr val="F7EDD4"/>
          </a:solidFill>
          <a:ln w="7620">
            <a:solidFill>
              <a:srgbClr val="DDD3B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662982" y="504384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Handbag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7662982" y="5534263"/>
            <a:ext cx="593907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Avg. Rating: </a:t>
            </a:r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3.78</a:t>
            </a:r>
            <a:endParaRPr lang="en-US" sz="1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629841"/>
            <a:ext cx="7080409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Customer Segmentation</a:t>
            </a:r>
            <a:endParaRPr lang="en-US" sz="44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3790" y="2010132"/>
            <a:ext cx="6244709" cy="361735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331355" y="5121340"/>
            <a:ext cx="23598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50"/>
              </a:lnSpc>
              <a:buNone/>
            </a:pPr>
            <a:r>
              <a:rPr lang="en-US" sz="650" dirty="0">
                <a:solidFill>
                  <a:srgbClr val="000000"/>
                </a:solidFill>
                <a:latin typeface="-apple-system, BlinkMacSystemFont, Segoe UI, Roboto, Helvetica Neue, Arial, sans-serif Medium" pitchFamily="34" charset="0"/>
                <a:ea typeface="-apple-system, BlinkMacSystemFont, Segoe UI, Roboto, Helvetica Neue, Arial, sans-serif Medium" pitchFamily="34" charset="-122"/>
                <a:cs typeface="-apple-system, BlinkMacSystemFont, Segoe UI, Roboto, Helvetica Neue, Arial, sans-serif Medium" pitchFamily="34" charset="-120"/>
              </a:rPr>
              <a:t>79.9%</a:t>
            </a:r>
            <a:endParaRPr lang="en-US" sz="650" dirty="0"/>
          </a:p>
        </p:txBody>
      </p:sp>
      <p:sp>
        <p:nvSpPr>
          <p:cNvPr id="5" name="Text 2"/>
          <p:cNvSpPr/>
          <p:nvPr/>
        </p:nvSpPr>
        <p:spPr>
          <a:xfrm>
            <a:off x="1947032" y="2352608"/>
            <a:ext cx="2839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50"/>
              </a:lnSpc>
              <a:buNone/>
            </a:pPr>
            <a:r>
              <a:rPr lang="en-US" sz="650" dirty="0">
                <a:solidFill>
                  <a:srgbClr val="000000"/>
                </a:solidFill>
                <a:latin typeface="-apple-system, BlinkMacSystemFont, Segoe UI, Roboto, Helvetica Neue, Arial, sans-serif Medium" pitchFamily="34" charset="0"/>
                <a:ea typeface="-apple-system, BlinkMacSystemFont, Segoe UI, Roboto, Helvetica Neue, Arial, sans-serif Medium" pitchFamily="34" charset="-122"/>
                <a:cs typeface="-apple-system, BlinkMacSystemFont, Segoe UI, Roboto, Helvetica Neue, Arial, sans-serif Medium" pitchFamily="34" charset="-120"/>
              </a:rPr>
              <a:t>17.97%</a:t>
            </a:r>
            <a:endParaRPr lang="en-US" sz="650" dirty="0"/>
          </a:p>
        </p:txBody>
      </p:sp>
      <p:sp>
        <p:nvSpPr>
          <p:cNvPr id="6" name="Text 3"/>
          <p:cNvSpPr/>
          <p:nvPr/>
        </p:nvSpPr>
        <p:spPr>
          <a:xfrm>
            <a:off x="2969087" y="1956792"/>
            <a:ext cx="23598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50"/>
              </a:lnSpc>
              <a:buNone/>
            </a:pPr>
            <a:r>
              <a:rPr lang="en-US" sz="650" dirty="0">
                <a:solidFill>
                  <a:srgbClr val="000000"/>
                </a:solidFill>
                <a:latin typeface="-apple-system, BlinkMacSystemFont, Segoe UI, Roboto, Helvetica Neue, Arial, sans-serif Medium" pitchFamily="34" charset="0"/>
                <a:ea typeface="-apple-system, BlinkMacSystemFont, Segoe UI, Roboto, Helvetica Neue, Arial, sans-serif Medium" pitchFamily="34" charset="-122"/>
                <a:cs typeface="-apple-system, BlinkMacSystemFont, Segoe UI, Roboto, Helvetica Neue, Arial, sans-serif Medium" pitchFamily="34" charset="-120"/>
              </a:rPr>
              <a:t>2.13%</a:t>
            </a:r>
            <a:endParaRPr lang="en-US" sz="650" dirty="0"/>
          </a:p>
        </p:txBody>
      </p:sp>
      <p:sp>
        <p:nvSpPr>
          <p:cNvPr id="7" name="Shape 4"/>
          <p:cNvSpPr/>
          <p:nvPr/>
        </p:nvSpPr>
        <p:spPr>
          <a:xfrm>
            <a:off x="5091470" y="3459718"/>
            <a:ext cx="806648" cy="164544"/>
          </a:xfrm>
          <a:prstGeom prst="roundRect">
            <a:avLst>
              <a:gd name="adj" fmla="val 77800"/>
            </a:avLst>
          </a:prstGeom>
          <a:solidFill>
            <a:srgbClr val="FFFFFF">
              <a:alpha val="20000"/>
            </a:srgbClr>
          </a:solidFill>
          <a:ln w="7620">
            <a:solidFill>
              <a:srgbClr val="000000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44810" y="3496270"/>
            <a:ext cx="91440" cy="9144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266730" y="3482578"/>
            <a:ext cx="578048" cy="1188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00" dirty="0">
                <a:solidFill>
                  <a:srgbClr val="454240"/>
                </a:solidFill>
                <a:latin typeface="-apple-system, BlinkMacSystemFont, Segoe UI, Roboto, Helvetica Neue, Arial, sans-serif Medium" pitchFamily="34" charset="0"/>
                <a:ea typeface="-apple-system, BlinkMacSystemFont, Segoe UI, Roboto, Helvetica Neue, Arial, sans-serif Medium" pitchFamily="34" charset="-122"/>
                <a:cs typeface="-apple-system, BlinkMacSystemFont, Segoe UI, Roboto, Helvetica Neue, Arial, sans-serif Medium" pitchFamily="34" charset="-120"/>
              </a:rPr>
              <a:t>Loyal·79.9%</a:t>
            </a:r>
            <a:endParaRPr lang="en-US" sz="700" dirty="0"/>
          </a:p>
        </p:txBody>
      </p:sp>
      <p:sp>
        <p:nvSpPr>
          <p:cNvPr id="10" name="Text 6"/>
          <p:cNvSpPr/>
          <p:nvPr/>
        </p:nvSpPr>
        <p:spPr>
          <a:xfrm>
            <a:off x="5489734" y="3482578"/>
            <a:ext cx="355044" cy="1188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00" dirty="0">
                <a:solidFill>
                  <a:srgbClr val="454240"/>
                </a:solidFill>
                <a:latin typeface="-apple-system, BlinkMacSystemFont, Segoe UI, Roboto, Helvetica Neue, Arial, sans-serif Medium" pitchFamily="34" charset="0"/>
                <a:ea typeface="-apple-system, BlinkMacSystemFont, Segoe UI, Roboto, Helvetica Neue, Arial, sans-serif Medium" pitchFamily="34" charset="-122"/>
                <a:cs typeface="-apple-system, BlinkMacSystemFont, Segoe UI, Roboto, Helvetica Neue, Arial, sans-serif Medium" pitchFamily="34" charset="-120"/>
              </a:rPr>
              <a:t>·79.9%</a:t>
            </a:r>
            <a:endParaRPr lang="en-US" sz="700" dirty="0"/>
          </a:p>
        </p:txBody>
      </p:sp>
      <p:sp>
        <p:nvSpPr>
          <p:cNvPr id="11" name="Text 7"/>
          <p:cNvSpPr/>
          <p:nvPr/>
        </p:nvSpPr>
        <p:spPr>
          <a:xfrm>
            <a:off x="5526286" y="3482578"/>
            <a:ext cx="24527" cy="1188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00" dirty="0">
                <a:solidFill>
                  <a:srgbClr val="454240"/>
                </a:solidFill>
                <a:latin typeface="-apple-system, BlinkMacSystemFont, Segoe UI, Roboto, Helvetica Neue, Arial, sans-serif Medium" pitchFamily="34" charset="0"/>
                <a:ea typeface="-apple-system, BlinkMacSystemFont, Segoe UI, Roboto, Helvetica Neue, Arial, sans-serif Medium" pitchFamily="34" charset="-122"/>
                <a:cs typeface="-apple-system, BlinkMacSystemFont, Segoe UI, Roboto, Helvetica Neue, Arial, sans-serif Medium" pitchFamily="34" charset="-120"/>
              </a:rPr>
              <a:t>·</a:t>
            </a:r>
            <a:endParaRPr lang="en-US" sz="700" dirty="0"/>
          </a:p>
        </p:txBody>
      </p:sp>
      <p:sp>
        <p:nvSpPr>
          <p:cNvPr id="12" name="Shape 8"/>
          <p:cNvSpPr/>
          <p:nvPr/>
        </p:nvSpPr>
        <p:spPr>
          <a:xfrm>
            <a:off x="5091470" y="3685223"/>
            <a:ext cx="1064657" cy="164544"/>
          </a:xfrm>
          <a:prstGeom prst="roundRect">
            <a:avLst>
              <a:gd name="adj" fmla="val 77800"/>
            </a:avLst>
          </a:prstGeom>
          <a:solidFill>
            <a:srgbClr val="FFFFFF">
              <a:alpha val="20000"/>
            </a:srgbClr>
          </a:solidFill>
          <a:ln w="7620">
            <a:solidFill>
              <a:srgbClr val="000000"/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44810" y="3721775"/>
            <a:ext cx="91440" cy="9144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5266730" y="3708083"/>
            <a:ext cx="836057" cy="1188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00" dirty="0">
                <a:solidFill>
                  <a:srgbClr val="454240"/>
                </a:solidFill>
                <a:latin typeface="-apple-system, BlinkMacSystemFont, Segoe UI, Roboto, Helvetica Neue, Arial, sans-serif Medium" pitchFamily="34" charset="0"/>
                <a:ea typeface="-apple-system, BlinkMacSystemFont, Segoe UI, Roboto, Helvetica Neue, Arial, sans-serif Medium" pitchFamily="34" charset="-122"/>
                <a:cs typeface="-apple-system, BlinkMacSystemFont, Segoe UI, Roboto, Helvetica Neue, Arial, sans-serif Medium" pitchFamily="34" charset="-120"/>
              </a:rPr>
              <a:t>Returning·17.97%</a:t>
            </a:r>
            <a:endParaRPr lang="en-US" sz="700" dirty="0"/>
          </a:p>
        </p:txBody>
      </p:sp>
      <p:sp>
        <p:nvSpPr>
          <p:cNvPr id="15" name="Text 10"/>
          <p:cNvSpPr/>
          <p:nvPr/>
        </p:nvSpPr>
        <p:spPr>
          <a:xfrm>
            <a:off x="5695355" y="3708083"/>
            <a:ext cx="407432" cy="1188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00" dirty="0">
                <a:solidFill>
                  <a:srgbClr val="454240"/>
                </a:solidFill>
                <a:latin typeface="-apple-system, BlinkMacSystemFont, Segoe UI, Roboto, Helvetica Neue, Arial, sans-serif Medium" pitchFamily="34" charset="0"/>
                <a:ea typeface="-apple-system, BlinkMacSystemFont, Segoe UI, Roboto, Helvetica Neue, Arial, sans-serif Medium" pitchFamily="34" charset="-122"/>
                <a:cs typeface="-apple-system, BlinkMacSystemFont, Segoe UI, Roboto, Helvetica Neue, Arial, sans-serif Medium" pitchFamily="34" charset="-120"/>
              </a:rPr>
              <a:t>·17.97%</a:t>
            </a:r>
            <a:endParaRPr lang="en-US" sz="700" dirty="0"/>
          </a:p>
        </p:txBody>
      </p:sp>
      <p:sp>
        <p:nvSpPr>
          <p:cNvPr id="16" name="Text 11"/>
          <p:cNvSpPr/>
          <p:nvPr/>
        </p:nvSpPr>
        <p:spPr>
          <a:xfrm>
            <a:off x="5731907" y="3708083"/>
            <a:ext cx="24527" cy="1188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00" dirty="0">
                <a:solidFill>
                  <a:srgbClr val="454240"/>
                </a:solidFill>
                <a:latin typeface="-apple-system, BlinkMacSystemFont, Segoe UI, Roboto, Helvetica Neue, Arial, sans-serif Medium" pitchFamily="34" charset="0"/>
                <a:ea typeface="-apple-system, BlinkMacSystemFont, Segoe UI, Roboto, Helvetica Neue, Arial, sans-serif Medium" pitchFamily="34" charset="-122"/>
                <a:cs typeface="-apple-system, BlinkMacSystemFont, Segoe UI, Roboto, Helvetica Neue, Arial, sans-serif Medium" pitchFamily="34" charset="-120"/>
              </a:rPr>
              <a:t>·</a:t>
            </a:r>
            <a:endParaRPr lang="en-US" sz="700" dirty="0"/>
          </a:p>
        </p:txBody>
      </p:sp>
      <p:sp>
        <p:nvSpPr>
          <p:cNvPr id="17" name="Shape 12"/>
          <p:cNvSpPr/>
          <p:nvPr/>
        </p:nvSpPr>
        <p:spPr>
          <a:xfrm>
            <a:off x="5091470" y="3910727"/>
            <a:ext cx="774859" cy="164544"/>
          </a:xfrm>
          <a:prstGeom prst="roundRect">
            <a:avLst>
              <a:gd name="adj" fmla="val 77800"/>
            </a:avLst>
          </a:prstGeom>
          <a:solidFill>
            <a:srgbClr val="FFFFFF">
              <a:alpha val="20000"/>
            </a:srgbClr>
          </a:solidFill>
          <a:ln w="7620">
            <a:solidFill>
              <a:srgbClr val="000000"/>
            </a:solidFill>
            <a:prstDash val="solid"/>
          </a:ln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44810" y="3947279"/>
            <a:ext cx="91440" cy="9144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5266730" y="3933587"/>
            <a:ext cx="546259" cy="1188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00" dirty="0">
                <a:solidFill>
                  <a:srgbClr val="454240"/>
                </a:solidFill>
                <a:latin typeface="-apple-system, BlinkMacSystemFont, Segoe UI, Roboto, Helvetica Neue, Arial, sans-serif Medium" pitchFamily="34" charset="0"/>
                <a:ea typeface="-apple-system, BlinkMacSystemFont, Segoe UI, Roboto, Helvetica Neue, Arial, sans-serif Medium" pitchFamily="34" charset="-122"/>
                <a:cs typeface="-apple-system, BlinkMacSystemFont, Segoe UI, Roboto, Helvetica Neue, Arial, sans-serif Medium" pitchFamily="34" charset="-120"/>
              </a:rPr>
              <a:t>New·2.13%</a:t>
            </a:r>
            <a:endParaRPr lang="en-US" sz="700" dirty="0"/>
          </a:p>
        </p:txBody>
      </p:sp>
      <p:sp>
        <p:nvSpPr>
          <p:cNvPr id="20" name="Text 14"/>
          <p:cNvSpPr/>
          <p:nvPr/>
        </p:nvSpPr>
        <p:spPr>
          <a:xfrm>
            <a:off x="5457944" y="3933587"/>
            <a:ext cx="355044" cy="1188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00" dirty="0">
                <a:solidFill>
                  <a:srgbClr val="454240"/>
                </a:solidFill>
                <a:latin typeface="-apple-system, BlinkMacSystemFont, Segoe UI, Roboto, Helvetica Neue, Arial, sans-serif Medium" pitchFamily="34" charset="0"/>
                <a:ea typeface="-apple-system, BlinkMacSystemFont, Segoe UI, Roboto, Helvetica Neue, Arial, sans-serif Medium" pitchFamily="34" charset="-122"/>
                <a:cs typeface="-apple-system, BlinkMacSystemFont, Segoe UI, Roboto, Helvetica Neue, Arial, sans-serif Medium" pitchFamily="34" charset="-120"/>
              </a:rPr>
              <a:t>·2.13%</a:t>
            </a:r>
            <a:endParaRPr lang="en-US" sz="700" dirty="0"/>
          </a:p>
        </p:txBody>
      </p:sp>
      <p:sp>
        <p:nvSpPr>
          <p:cNvPr id="21" name="Text 15"/>
          <p:cNvSpPr/>
          <p:nvPr/>
        </p:nvSpPr>
        <p:spPr>
          <a:xfrm>
            <a:off x="5494496" y="3933587"/>
            <a:ext cx="24527" cy="1188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00" dirty="0">
                <a:solidFill>
                  <a:srgbClr val="454240"/>
                </a:solidFill>
                <a:latin typeface="-apple-system, BlinkMacSystemFont, Segoe UI, Roboto, Helvetica Neue, Arial, sans-serif Medium" pitchFamily="34" charset="0"/>
                <a:ea typeface="-apple-system, BlinkMacSystemFont, Segoe UI, Roboto, Helvetica Neue, Arial, sans-serif Medium" pitchFamily="34" charset="-122"/>
                <a:cs typeface="-apple-system, BlinkMacSystemFont, Segoe UI, Roboto, Helvetica Neue, Arial, sans-serif Medium" pitchFamily="34" charset="-120"/>
              </a:rPr>
              <a:t>·</a:t>
            </a:r>
            <a:endParaRPr lang="en-US" sz="700" dirty="0"/>
          </a:p>
        </p:txBody>
      </p:sp>
      <p:sp>
        <p:nvSpPr>
          <p:cNvPr id="22" name="Text 16"/>
          <p:cNvSpPr/>
          <p:nvPr/>
        </p:nvSpPr>
        <p:spPr>
          <a:xfrm>
            <a:off x="7599521" y="1905595"/>
            <a:ext cx="3005733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Segment Breakdown</a:t>
            </a:r>
            <a:endParaRPr lang="en-US" sz="2200" dirty="0"/>
          </a:p>
        </p:txBody>
      </p:sp>
      <p:sp>
        <p:nvSpPr>
          <p:cNvPr id="23" name="Shape 17"/>
          <p:cNvSpPr/>
          <p:nvPr/>
        </p:nvSpPr>
        <p:spPr>
          <a:xfrm>
            <a:off x="7599521" y="2515076"/>
            <a:ext cx="6244709" cy="1458635"/>
          </a:xfrm>
          <a:prstGeom prst="roundRect">
            <a:avLst>
              <a:gd name="adj" fmla="val 10030"/>
            </a:avLst>
          </a:prstGeom>
          <a:solidFill>
            <a:srgbClr val="FFFDFA"/>
          </a:solidFill>
          <a:ln w="30480">
            <a:solidFill>
              <a:srgbClr val="DDD3BA"/>
            </a:solidFill>
            <a:prstDash val="solid"/>
          </a:ln>
        </p:spPr>
      </p:sp>
      <p:sp>
        <p:nvSpPr>
          <p:cNvPr id="24" name="Shape 18"/>
          <p:cNvSpPr/>
          <p:nvPr/>
        </p:nvSpPr>
        <p:spPr>
          <a:xfrm>
            <a:off x="7569041" y="2515076"/>
            <a:ext cx="121920" cy="1458635"/>
          </a:xfrm>
          <a:prstGeom prst="roundRect">
            <a:avLst>
              <a:gd name="adj" fmla="val 78139"/>
            </a:avLst>
          </a:prstGeom>
          <a:solidFill>
            <a:srgbClr val="B88E23"/>
          </a:solidFill>
          <a:ln/>
        </p:spPr>
      </p:sp>
      <p:sp>
        <p:nvSpPr>
          <p:cNvPr id="25" name="Text 19"/>
          <p:cNvSpPr/>
          <p:nvPr/>
        </p:nvSpPr>
        <p:spPr>
          <a:xfrm>
            <a:off x="7948255" y="277237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Loyal — 3,116</a:t>
            </a:r>
            <a:endParaRPr lang="en-US" sz="2200" dirty="0"/>
          </a:p>
        </p:txBody>
      </p:sp>
      <p:sp>
        <p:nvSpPr>
          <p:cNvPr id="26" name="Text 20"/>
          <p:cNvSpPr/>
          <p:nvPr/>
        </p:nvSpPr>
        <p:spPr>
          <a:xfrm>
            <a:off x="7948255" y="3353514"/>
            <a:ext cx="563868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&gt;5 purchases; 958 are subscribers</a:t>
            </a:r>
            <a:endParaRPr lang="en-US" sz="1750" dirty="0"/>
          </a:p>
        </p:txBody>
      </p:sp>
      <p:sp>
        <p:nvSpPr>
          <p:cNvPr id="27" name="Shape 21"/>
          <p:cNvSpPr/>
          <p:nvPr/>
        </p:nvSpPr>
        <p:spPr>
          <a:xfrm>
            <a:off x="7599521" y="4200525"/>
            <a:ext cx="6244709" cy="1458635"/>
          </a:xfrm>
          <a:prstGeom prst="roundRect">
            <a:avLst>
              <a:gd name="adj" fmla="val 10030"/>
            </a:avLst>
          </a:prstGeom>
          <a:solidFill>
            <a:srgbClr val="FFFDFA"/>
          </a:solidFill>
          <a:ln w="30480">
            <a:solidFill>
              <a:srgbClr val="DDD3BA"/>
            </a:solidFill>
            <a:prstDash val="solid"/>
          </a:ln>
        </p:spPr>
      </p:sp>
      <p:sp>
        <p:nvSpPr>
          <p:cNvPr id="28" name="Shape 22"/>
          <p:cNvSpPr/>
          <p:nvPr/>
        </p:nvSpPr>
        <p:spPr>
          <a:xfrm>
            <a:off x="7569041" y="4200525"/>
            <a:ext cx="121920" cy="1458635"/>
          </a:xfrm>
          <a:prstGeom prst="roundRect">
            <a:avLst>
              <a:gd name="adj" fmla="val 78139"/>
            </a:avLst>
          </a:prstGeom>
          <a:solidFill>
            <a:srgbClr val="B88E23"/>
          </a:solidFill>
          <a:ln/>
        </p:spPr>
      </p:sp>
      <p:sp>
        <p:nvSpPr>
          <p:cNvPr id="29" name="Text 23"/>
          <p:cNvSpPr/>
          <p:nvPr/>
        </p:nvSpPr>
        <p:spPr>
          <a:xfrm>
            <a:off x="7948255" y="445781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Returning — 701</a:t>
            </a:r>
            <a:endParaRPr lang="en-US" sz="2200" dirty="0"/>
          </a:p>
        </p:txBody>
      </p:sp>
      <p:sp>
        <p:nvSpPr>
          <p:cNvPr id="30" name="Text 24"/>
          <p:cNvSpPr/>
          <p:nvPr/>
        </p:nvSpPr>
        <p:spPr>
          <a:xfrm>
            <a:off x="7948255" y="5038963"/>
            <a:ext cx="563868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Engaged but not yet loyal</a:t>
            </a:r>
            <a:endParaRPr lang="en-US" sz="1750" dirty="0"/>
          </a:p>
        </p:txBody>
      </p:sp>
      <p:sp>
        <p:nvSpPr>
          <p:cNvPr id="31" name="Shape 25"/>
          <p:cNvSpPr/>
          <p:nvPr/>
        </p:nvSpPr>
        <p:spPr>
          <a:xfrm>
            <a:off x="7599521" y="5885974"/>
            <a:ext cx="6244709" cy="1458635"/>
          </a:xfrm>
          <a:prstGeom prst="roundRect">
            <a:avLst>
              <a:gd name="adj" fmla="val 10030"/>
            </a:avLst>
          </a:prstGeom>
          <a:solidFill>
            <a:srgbClr val="FFFDFA"/>
          </a:solidFill>
          <a:ln w="30480">
            <a:solidFill>
              <a:srgbClr val="DDD3BA"/>
            </a:solidFill>
            <a:prstDash val="solid"/>
          </a:ln>
        </p:spPr>
      </p:sp>
      <p:sp>
        <p:nvSpPr>
          <p:cNvPr id="32" name="Shape 26"/>
          <p:cNvSpPr/>
          <p:nvPr/>
        </p:nvSpPr>
        <p:spPr>
          <a:xfrm>
            <a:off x="7569041" y="5885974"/>
            <a:ext cx="121920" cy="1458635"/>
          </a:xfrm>
          <a:prstGeom prst="roundRect">
            <a:avLst>
              <a:gd name="adj" fmla="val 78139"/>
            </a:avLst>
          </a:prstGeom>
          <a:solidFill>
            <a:srgbClr val="B88E23"/>
          </a:solidFill>
          <a:ln/>
        </p:spPr>
      </p:sp>
      <p:sp>
        <p:nvSpPr>
          <p:cNvPr id="33" name="Text 27"/>
          <p:cNvSpPr/>
          <p:nvPr/>
        </p:nvSpPr>
        <p:spPr>
          <a:xfrm>
            <a:off x="7948255" y="614326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New — 83</a:t>
            </a:r>
            <a:endParaRPr lang="en-US" sz="2200" dirty="0"/>
          </a:p>
        </p:txBody>
      </p:sp>
      <p:sp>
        <p:nvSpPr>
          <p:cNvPr id="34" name="Text 28"/>
          <p:cNvSpPr/>
          <p:nvPr/>
        </p:nvSpPr>
        <p:spPr>
          <a:xfrm>
            <a:off x="7948255" y="6724412"/>
            <a:ext cx="563868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Acquisition pipeline</a:t>
            </a:r>
            <a:endParaRPr lang="en-US" sz="1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446014" y="479465"/>
            <a:ext cx="5733098" cy="5316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150"/>
              </a:lnSpc>
              <a:buNone/>
            </a:pPr>
            <a:r>
              <a:rPr lang="en-US" sz="330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Subscriptions &amp; Discounts</a:t>
            </a:r>
            <a:endParaRPr lang="en-US" sz="3300" dirty="0"/>
          </a:p>
        </p:txBody>
      </p:sp>
      <p:sp>
        <p:nvSpPr>
          <p:cNvPr id="3" name="Text 1"/>
          <p:cNvSpPr/>
          <p:nvPr/>
        </p:nvSpPr>
        <p:spPr>
          <a:xfrm>
            <a:off x="3294340" y="2371963"/>
            <a:ext cx="2092404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3300"/>
              </a:lnSpc>
              <a:buNone/>
            </a:pPr>
            <a:r>
              <a:rPr lang="en-US" sz="33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27%</a:t>
            </a:r>
            <a:endParaRPr lang="en-US" sz="33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64788" y="1308735"/>
            <a:ext cx="2551748" cy="255174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277433" y="4030504"/>
            <a:ext cx="2126456" cy="265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050"/>
              </a:lnSpc>
              <a:buNone/>
            </a:pPr>
            <a:r>
              <a:rPr lang="en-US" sz="16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Subscribers</a:t>
            </a:r>
            <a:endParaRPr lang="en-US" sz="1650" dirty="0"/>
          </a:p>
        </p:txBody>
      </p:sp>
      <p:sp>
        <p:nvSpPr>
          <p:cNvPr id="6" name="Text 3"/>
          <p:cNvSpPr/>
          <p:nvPr/>
        </p:nvSpPr>
        <p:spPr>
          <a:xfrm>
            <a:off x="1446014" y="4372689"/>
            <a:ext cx="5789414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850"/>
              </a:lnSpc>
              <a:buNone/>
            </a:pPr>
            <a:r>
              <a:rPr lang="en-US" sz="13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1,053 customers · $62,645 revenue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9243179" y="2371963"/>
            <a:ext cx="2092404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3300"/>
              </a:lnSpc>
              <a:buNone/>
            </a:pPr>
            <a:r>
              <a:rPr lang="en-US" sz="33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73%</a:t>
            </a:r>
            <a:endParaRPr lang="en-US" sz="33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13627" y="1308735"/>
            <a:ext cx="2551748" cy="255174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9226272" y="4030504"/>
            <a:ext cx="2126456" cy="265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050"/>
              </a:lnSpc>
              <a:buNone/>
            </a:pPr>
            <a:r>
              <a:rPr lang="en-US" sz="16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Non-Subscribers</a:t>
            </a:r>
            <a:endParaRPr lang="en-US" sz="1650" dirty="0"/>
          </a:p>
        </p:txBody>
      </p:sp>
      <p:sp>
        <p:nvSpPr>
          <p:cNvPr id="10" name="Text 6"/>
          <p:cNvSpPr/>
          <p:nvPr/>
        </p:nvSpPr>
        <p:spPr>
          <a:xfrm>
            <a:off x="7394853" y="4372689"/>
            <a:ext cx="5789414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850"/>
              </a:lnSpc>
              <a:buNone/>
            </a:pPr>
            <a:r>
              <a:rPr lang="en-US" sz="13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2,847 customers · $170,436 revenue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1446014" y="4802148"/>
            <a:ext cx="3913584" cy="265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6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Most Discount-Dependent Products</a:t>
            </a:r>
            <a:endParaRPr lang="en-US" sz="1650" dirty="0"/>
          </a:p>
        </p:txBody>
      </p:sp>
      <p:sp>
        <p:nvSpPr>
          <p:cNvPr id="12" name="Shape 8"/>
          <p:cNvSpPr/>
          <p:nvPr/>
        </p:nvSpPr>
        <p:spPr>
          <a:xfrm>
            <a:off x="1446014" y="5259229"/>
            <a:ext cx="11738253" cy="2490788"/>
          </a:xfrm>
          <a:prstGeom prst="roundRect">
            <a:avLst>
              <a:gd name="adj" fmla="val 2869"/>
            </a:avLst>
          </a:prstGeom>
          <a:noFill/>
          <a:ln w="762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1623774" y="5350907"/>
            <a:ext cx="5521404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300" b="1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Product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7485221" y="5350907"/>
            <a:ext cx="5521404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300" b="1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Discount Rate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1623774" y="5764768"/>
            <a:ext cx="5521404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3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Hat</a:t>
            </a:r>
            <a:endParaRPr lang="en-US" sz="1300" dirty="0"/>
          </a:p>
        </p:txBody>
      </p:sp>
      <p:sp>
        <p:nvSpPr>
          <p:cNvPr id="16" name="Text 12"/>
          <p:cNvSpPr/>
          <p:nvPr/>
        </p:nvSpPr>
        <p:spPr>
          <a:xfrm>
            <a:off x="7485221" y="5764768"/>
            <a:ext cx="5521404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300" dirty="0">
                <a:solidFill>
                  <a:srgbClr val="B88E2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50%</a:t>
            </a:r>
            <a:endParaRPr lang="en-US" sz="1300" dirty="0"/>
          </a:p>
        </p:txBody>
      </p:sp>
      <p:sp>
        <p:nvSpPr>
          <p:cNvPr id="17" name="Text 13"/>
          <p:cNvSpPr/>
          <p:nvPr/>
        </p:nvSpPr>
        <p:spPr>
          <a:xfrm>
            <a:off x="1623774" y="6178629"/>
            <a:ext cx="5521404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3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Coat</a:t>
            </a:r>
            <a:endParaRPr lang="en-US" sz="1300" dirty="0"/>
          </a:p>
        </p:txBody>
      </p:sp>
      <p:sp>
        <p:nvSpPr>
          <p:cNvPr id="18" name="Text 14"/>
          <p:cNvSpPr/>
          <p:nvPr/>
        </p:nvSpPr>
        <p:spPr>
          <a:xfrm>
            <a:off x="7485221" y="6178629"/>
            <a:ext cx="5521404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3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49%</a:t>
            </a:r>
            <a:endParaRPr lang="en-US" sz="1300" dirty="0"/>
          </a:p>
        </p:txBody>
      </p:sp>
      <p:sp>
        <p:nvSpPr>
          <p:cNvPr id="19" name="Text 15"/>
          <p:cNvSpPr/>
          <p:nvPr/>
        </p:nvSpPr>
        <p:spPr>
          <a:xfrm>
            <a:off x="1623774" y="6592491"/>
            <a:ext cx="5521404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3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Sneakers</a:t>
            </a:r>
            <a:endParaRPr lang="en-US" sz="1300" dirty="0"/>
          </a:p>
        </p:txBody>
      </p:sp>
      <p:sp>
        <p:nvSpPr>
          <p:cNvPr id="20" name="Text 16"/>
          <p:cNvSpPr/>
          <p:nvPr/>
        </p:nvSpPr>
        <p:spPr>
          <a:xfrm>
            <a:off x="7485221" y="6592491"/>
            <a:ext cx="5521404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3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49%</a:t>
            </a:r>
            <a:endParaRPr lang="en-US" sz="1300" dirty="0"/>
          </a:p>
        </p:txBody>
      </p:sp>
      <p:sp>
        <p:nvSpPr>
          <p:cNvPr id="21" name="Text 17"/>
          <p:cNvSpPr/>
          <p:nvPr/>
        </p:nvSpPr>
        <p:spPr>
          <a:xfrm>
            <a:off x="1623774" y="7006352"/>
            <a:ext cx="5521404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3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Sweater</a:t>
            </a:r>
            <a:endParaRPr lang="en-US" sz="1300" dirty="0"/>
          </a:p>
        </p:txBody>
      </p:sp>
      <p:sp>
        <p:nvSpPr>
          <p:cNvPr id="22" name="Text 18"/>
          <p:cNvSpPr/>
          <p:nvPr/>
        </p:nvSpPr>
        <p:spPr>
          <a:xfrm>
            <a:off x="7485221" y="7006352"/>
            <a:ext cx="5521404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3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48%</a:t>
            </a:r>
            <a:endParaRPr lang="en-US" sz="1300" dirty="0"/>
          </a:p>
        </p:txBody>
      </p:sp>
      <p:sp>
        <p:nvSpPr>
          <p:cNvPr id="23" name="Text 19"/>
          <p:cNvSpPr/>
          <p:nvPr/>
        </p:nvSpPr>
        <p:spPr>
          <a:xfrm>
            <a:off x="1623774" y="7420213"/>
            <a:ext cx="5521404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3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Pants</a:t>
            </a:r>
            <a:endParaRPr lang="en-US" sz="1300" dirty="0"/>
          </a:p>
        </p:txBody>
      </p:sp>
      <p:sp>
        <p:nvSpPr>
          <p:cNvPr id="24" name="Text 20"/>
          <p:cNvSpPr/>
          <p:nvPr/>
        </p:nvSpPr>
        <p:spPr>
          <a:xfrm>
            <a:off x="7485221" y="7420213"/>
            <a:ext cx="5521404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3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47%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126808"/>
            <a:ext cx="6677858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Revenue by Age Group</a:t>
            </a:r>
            <a:endParaRPr lang="en-US" sz="44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3790" y="2430899"/>
            <a:ext cx="6244709" cy="369343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425697" y="2898577"/>
            <a:ext cx="256818" cy="144780"/>
          </a:xfrm>
          <a:prstGeom prst="rect">
            <a:avLst/>
          </a:prstGeom>
          <a:noFill/>
          <a:ln/>
        </p:spPr>
        <p:txBody>
          <a:bodyPr wrap="square" lIns="30480" tIns="30480" rIns="30480" bIns="30480" rtlCol="0" anchor="t"/>
          <a:lstStyle/>
          <a:p>
            <a:pPr algn="l" indent="0" marL="0">
              <a:lnSpc>
                <a:spcPts val="650"/>
              </a:lnSpc>
              <a:buNone/>
            </a:pPr>
            <a:r>
              <a:rPr lang="en-US" sz="650" dirty="0">
                <a:solidFill>
                  <a:srgbClr val="FFFFFF"/>
                </a:solidFill>
                <a:latin typeface="-apple-system, BlinkMacSystemFont, Segoe UI, Roboto, Helvetica Neue, Arial, sans-serif Medium" pitchFamily="34" charset="0"/>
                <a:ea typeface="-apple-system, BlinkMacSystemFont, Segoe UI, Roboto, Helvetica Neue, Arial, sans-serif Medium" pitchFamily="34" charset="-122"/>
                <a:cs typeface="-apple-system, BlinkMacSystemFont, Segoe UI, Roboto, Helvetica Neue, Arial, sans-serif Medium" pitchFamily="34" charset="-120"/>
              </a:rPr>
              <a:t>62.1k</a:t>
            </a:r>
            <a:endParaRPr lang="en-US" sz="650" dirty="0"/>
          </a:p>
        </p:txBody>
      </p:sp>
      <p:sp>
        <p:nvSpPr>
          <p:cNvPr id="5" name="Text 2"/>
          <p:cNvSpPr/>
          <p:nvPr/>
        </p:nvSpPr>
        <p:spPr>
          <a:xfrm>
            <a:off x="6166797" y="3696772"/>
            <a:ext cx="256818" cy="144780"/>
          </a:xfrm>
          <a:prstGeom prst="rect">
            <a:avLst/>
          </a:prstGeom>
          <a:noFill/>
          <a:ln/>
        </p:spPr>
        <p:txBody>
          <a:bodyPr wrap="square" lIns="30480" tIns="30480" rIns="30480" bIns="30480" rtlCol="0" anchor="t"/>
          <a:lstStyle/>
          <a:p>
            <a:pPr algn="l" indent="0" marL="0">
              <a:lnSpc>
                <a:spcPts val="650"/>
              </a:lnSpc>
              <a:buNone/>
            </a:pPr>
            <a:r>
              <a:rPr lang="en-US" sz="650" dirty="0">
                <a:solidFill>
                  <a:srgbClr val="000000"/>
                </a:solidFill>
                <a:latin typeface="-apple-system, BlinkMacSystemFont, Segoe UI, Roboto, Helvetica Neue, Arial, sans-serif Medium" pitchFamily="34" charset="0"/>
                <a:ea typeface="-apple-system, BlinkMacSystemFont, Segoe UI, Roboto, Helvetica Neue, Arial, sans-serif Medium" pitchFamily="34" charset="-122"/>
                <a:cs typeface="-apple-system, BlinkMacSystemFont, Segoe UI, Roboto, Helvetica Neue, Arial, sans-serif Medium" pitchFamily="34" charset="-120"/>
              </a:rPr>
              <a:t>59.2k</a:t>
            </a:r>
            <a:endParaRPr lang="en-US" sz="650" dirty="0"/>
          </a:p>
        </p:txBody>
      </p:sp>
      <p:sp>
        <p:nvSpPr>
          <p:cNvPr id="6" name="Text 3"/>
          <p:cNvSpPr/>
          <p:nvPr/>
        </p:nvSpPr>
        <p:spPr>
          <a:xfrm>
            <a:off x="5967424" y="4494967"/>
            <a:ext cx="186452" cy="144780"/>
          </a:xfrm>
          <a:prstGeom prst="rect">
            <a:avLst/>
          </a:prstGeom>
          <a:noFill/>
          <a:ln/>
        </p:spPr>
        <p:txBody>
          <a:bodyPr wrap="square" lIns="30480" tIns="30480" rIns="30480" bIns="30480" rtlCol="0" anchor="t"/>
          <a:lstStyle/>
          <a:p>
            <a:pPr algn="l" indent="0" marL="0">
              <a:lnSpc>
                <a:spcPts val="650"/>
              </a:lnSpc>
              <a:buNone/>
            </a:pPr>
            <a:r>
              <a:rPr lang="en-US" sz="650" dirty="0">
                <a:solidFill>
                  <a:srgbClr val="000000"/>
                </a:solidFill>
                <a:latin typeface="-apple-system, BlinkMacSystemFont, Segoe UI, Roboto, Helvetica Neue, Arial, sans-serif Medium" pitchFamily="34" charset="0"/>
                <a:ea typeface="-apple-system, BlinkMacSystemFont, Segoe UI, Roboto, Helvetica Neue, Arial, sans-serif Medium" pitchFamily="34" charset="-122"/>
                <a:cs typeface="-apple-system, BlinkMacSystemFont, Segoe UI, Roboto, Helvetica Neue, Arial, sans-serif Medium" pitchFamily="34" charset="-120"/>
              </a:rPr>
              <a:t>56k</a:t>
            </a:r>
            <a:endParaRPr lang="en-US" sz="650" dirty="0"/>
          </a:p>
        </p:txBody>
      </p:sp>
      <p:sp>
        <p:nvSpPr>
          <p:cNvPr id="7" name="Text 4"/>
          <p:cNvSpPr/>
          <p:nvPr/>
        </p:nvSpPr>
        <p:spPr>
          <a:xfrm>
            <a:off x="5878375" y="5293162"/>
            <a:ext cx="256818" cy="144780"/>
          </a:xfrm>
          <a:prstGeom prst="rect">
            <a:avLst/>
          </a:prstGeom>
          <a:noFill/>
          <a:ln/>
        </p:spPr>
        <p:txBody>
          <a:bodyPr wrap="square" lIns="30480" tIns="30480" rIns="30480" bIns="30480" rtlCol="0" anchor="t"/>
          <a:lstStyle/>
          <a:p>
            <a:pPr algn="l" indent="0" marL="0">
              <a:lnSpc>
                <a:spcPts val="650"/>
              </a:lnSpc>
              <a:buNone/>
            </a:pPr>
            <a:r>
              <a:rPr lang="en-US" sz="650" dirty="0">
                <a:solidFill>
                  <a:srgbClr val="000000"/>
                </a:solidFill>
                <a:latin typeface="-apple-system, BlinkMacSystemFont, Segoe UI, Roboto, Helvetica Neue, Arial, sans-serif Medium" pitchFamily="34" charset="0"/>
                <a:ea typeface="-apple-system, BlinkMacSystemFont, Segoe UI, Roboto, Helvetica Neue, Arial, sans-serif Medium" pitchFamily="34" charset="-122"/>
                <a:cs typeface="-apple-system, BlinkMacSystemFont, Segoe UI, Roboto, Helvetica Neue, Arial, sans-serif Medium" pitchFamily="34" charset="-120"/>
              </a:rPr>
              <a:t>55.8k</a:t>
            </a:r>
            <a:endParaRPr lang="en-US" sz="650" dirty="0"/>
          </a:p>
        </p:txBody>
      </p:sp>
      <p:sp>
        <p:nvSpPr>
          <p:cNvPr id="8" name="Text 5"/>
          <p:cNvSpPr/>
          <p:nvPr/>
        </p:nvSpPr>
        <p:spPr>
          <a:xfrm>
            <a:off x="7599521" y="2402562"/>
            <a:ext cx="377511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Top Products by Category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7599521" y="3012043"/>
            <a:ext cx="6244709" cy="2616518"/>
          </a:xfrm>
          <a:prstGeom prst="roundRect">
            <a:avLst>
              <a:gd name="adj" fmla="val 3641"/>
            </a:avLst>
          </a:prstGeom>
          <a:noFill/>
          <a:ln w="762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7607141" y="3019663"/>
            <a:ext cx="6228755" cy="650319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1" name="Text 8"/>
          <p:cNvSpPr/>
          <p:nvPr/>
        </p:nvSpPr>
        <p:spPr>
          <a:xfrm>
            <a:off x="7834789" y="3163372"/>
            <a:ext cx="161853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Category</a:t>
            </a:r>
            <a:endParaRPr lang="en-US" sz="1750" dirty="0"/>
          </a:p>
        </p:txBody>
      </p:sp>
      <p:sp>
        <p:nvSpPr>
          <p:cNvPr id="12" name="Text 9"/>
          <p:cNvSpPr/>
          <p:nvPr/>
        </p:nvSpPr>
        <p:spPr>
          <a:xfrm>
            <a:off x="9914573" y="3163372"/>
            <a:ext cx="161472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#1 Product</a:t>
            </a:r>
            <a:endParaRPr lang="en-US" sz="1750" dirty="0"/>
          </a:p>
        </p:txBody>
      </p:sp>
      <p:sp>
        <p:nvSpPr>
          <p:cNvPr id="13" name="Text 10"/>
          <p:cNvSpPr/>
          <p:nvPr/>
        </p:nvSpPr>
        <p:spPr>
          <a:xfrm>
            <a:off x="11990546" y="3163372"/>
            <a:ext cx="161853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Orders</a:t>
            </a:r>
            <a:endParaRPr lang="en-US" sz="1750" dirty="0"/>
          </a:p>
        </p:txBody>
      </p:sp>
      <p:sp>
        <p:nvSpPr>
          <p:cNvPr id="14" name="Shape 11"/>
          <p:cNvSpPr/>
          <p:nvPr/>
        </p:nvSpPr>
        <p:spPr>
          <a:xfrm>
            <a:off x="7607141" y="3669982"/>
            <a:ext cx="6228755" cy="650319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15" name="Text 12"/>
          <p:cNvSpPr/>
          <p:nvPr/>
        </p:nvSpPr>
        <p:spPr>
          <a:xfrm>
            <a:off x="7834789" y="3813691"/>
            <a:ext cx="161853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Clothing</a:t>
            </a:r>
            <a:endParaRPr lang="en-US" sz="1750" dirty="0"/>
          </a:p>
        </p:txBody>
      </p:sp>
      <p:sp>
        <p:nvSpPr>
          <p:cNvPr id="16" name="Text 13"/>
          <p:cNvSpPr/>
          <p:nvPr/>
        </p:nvSpPr>
        <p:spPr>
          <a:xfrm>
            <a:off x="9914573" y="3813691"/>
            <a:ext cx="161472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Blouse / Pants</a:t>
            </a:r>
            <a:endParaRPr lang="en-US" sz="1750" dirty="0"/>
          </a:p>
        </p:txBody>
      </p:sp>
      <p:sp>
        <p:nvSpPr>
          <p:cNvPr id="17" name="Text 14"/>
          <p:cNvSpPr/>
          <p:nvPr/>
        </p:nvSpPr>
        <p:spPr>
          <a:xfrm>
            <a:off x="11990546" y="3813691"/>
            <a:ext cx="161853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171</a:t>
            </a:r>
            <a:endParaRPr lang="en-US" sz="1750" dirty="0"/>
          </a:p>
        </p:txBody>
      </p:sp>
      <p:sp>
        <p:nvSpPr>
          <p:cNvPr id="18" name="Shape 15"/>
          <p:cNvSpPr/>
          <p:nvPr/>
        </p:nvSpPr>
        <p:spPr>
          <a:xfrm>
            <a:off x="7607141" y="4320302"/>
            <a:ext cx="6228755" cy="650319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9" name="Text 16"/>
          <p:cNvSpPr/>
          <p:nvPr/>
        </p:nvSpPr>
        <p:spPr>
          <a:xfrm>
            <a:off x="7834789" y="4464010"/>
            <a:ext cx="161853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Footwear</a:t>
            </a:r>
            <a:endParaRPr lang="en-US" sz="1750" dirty="0"/>
          </a:p>
        </p:txBody>
      </p:sp>
      <p:sp>
        <p:nvSpPr>
          <p:cNvPr id="20" name="Text 17"/>
          <p:cNvSpPr/>
          <p:nvPr/>
        </p:nvSpPr>
        <p:spPr>
          <a:xfrm>
            <a:off x="9914573" y="4464010"/>
            <a:ext cx="161472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Sandals</a:t>
            </a:r>
            <a:endParaRPr lang="en-US" sz="1750" dirty="0"/>
          </a:p>
        </p:txBody>
      </p:sp>
      <p:sp>
        <p:nvSpPr>
          <p:cNvPr id="21" name="Text 18"/>
          <p:cNvSpPr/>
          <p:nvPr/>
        </p:nvSpPr>
        <p:spPr>
          <a:xfrm>
            <a:off x="11990546" y="4464010"/>
            <a:ext cx="161853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160</a:t>
            </a:r>
            <a:endParaRPr lang="en-US" sz="1750" dirty="0"/>
          </a:p>
        </p:txBody>
      </p:sp>
      <p:sp>
        <p:nvSpPr>
          <p:cNvPr id="22" name="Shape 19"/>
          <p:cNvSpPr/>
          <p:nvPr/>
        </p:nvSpPr>
        <p:spPr>
          <a:xfrm>
            <a:off x="7607141" y="4970621"/>
            <a:ext cx="6228755" cy="650319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23" name="Text 20"/>
          <p:cNvSpPr/>
          <p:nvPr/>
        </p:nvSpPr>
        <p:spPr>
          <a:xfrm>
            <a:off x="7834789" y="5114330"/>
            <a:ext cx="161853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Outerwear</a:t>
            </a:r>
            <a:endParaRPr lang="en-US" sz="1750" dirty="0"/>
          </a:p>
        </p:txBody>
      </p:sp>
      <p:sp>
        <p:nvSpPr>
          <p:cNvPr id="24" name="Text 21"/>
          <p:cNvSpPr/>
          <p:nvPr/>
        </p:nvSpPr>
        <p:spPr>
          <a:xfrm>
            <a:off x="9914573" y="5114330"/>
            <a:ext cx="161472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Jacket</a:t>
            </a:r>
            <a:endParaRPr lang="en-US" sz="1750" dirty="0"/>
          </a:p>
        </p:txBody>
      </p:sp>
      <p:sp>
        <p:nvSpPr>
          <p:cNvPr id="25" name="Text 22"/>
          <p:cNvSpPr/>
          <p:nvPr/>
        </p:nvSpPr>
        <p:spPr>
          <a:xfrm>
            <a:off x="11990546" y="5114330"/>
            <a:ext cx="161853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163</a:t>
            </a:r>
            <a:endParaRPr lang="en-US" sz="1750" dirty="0"/>
          </a:p>
        </p:txBody>
      </p:sp>
      <p:sp>
        <p:nvSpPr>
          <p:cNvPr id="26" name="Shape 23"/>
          <p:cNvSpPr/>
          <p:nvPr/>
        </p:nvSpPr>
        <p:spPr>
          <a:xfrm>
            <a:off x="7599521" y="5883712"/>
            <a:ext cx="6244709" cy="963811"/>
          </a:xfrm>
          <a:prstGeom prst="roundRect">
            <a:avLst>
              <a:gd name="adj" fmla="val 9884"/>
            </a:avLst>
          </a:prstGeom>
          <a:solidFill>
            <a:srgbClr val="F3E4BF"/>
          </a:solidFill>
          <a:ln/>
        </p:spPr>
      </p:sp>
      <p:pic>
        <p:nvPicPr>
          <p:cNvPr id="2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26335" y="6227802"/>
            <a:ext cx="283488" cy="226814"/>
          </a:xfrm>
          <a:prstGeom prst="rect">
            <a:avLst/>
          </a:prstGeom>
        </p:spPr>
      </p:pic>
      <p:sp>
        <p:nvSpPr>
          <p:cNvPr id="28" name="Text 24"/>
          <p:cNvSpPr/>
          <p:nvPr/>
        </p:nvSpPr>
        <p:spPr>
          <a:xfrm>
            <a:off x="8336637" y="6167199"/>
            <a:ext cx="528077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B88E2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Young Adults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lead revenue at $62,143.</a:t>
            </a:r>
            <a:endParaRPr lang="en-US" sz="1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0" y="0"/>
            <a:ext cx="91440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2510076"/>
            <a:ext cx="38988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Power BI Dashboard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793790" y="4267795"/>
            <a:ext cx="3898821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Interactive filters for Subscription Status, Gender, Category &amp; Shipping Type — six live visualizations in one view.</a:t>
            </a:r>
            <a:endParaRPr lang="en-US" sz="1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353383"/>
            <a:ext cx="8153757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Business Recommendations</a:t>
            </a:r>
            <a:endParaRPr lang="en-US" sz="44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93790" y="2515791"/>
            <a:ext cx="453628" cy="45362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93790" y="3252907"/>
            <a:ext cx="2880836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Boost Subscriptions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793790" y="3743325"/>
            <a:ext cx="415861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Promote exclusive subscriber benefits</a:t>
            </a:r>
            <a:endParaRPr lang="en-US" sz="175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235893" y="2515791"/>
            <a:ext cx="453628" cy="45362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235893" y="325290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Loyalty Programs</a:t>
            </a:r>
            <a:endParaRPr lang="en-US" sz="2200" dirty="0"/>
          </a:p>
        </p:txBody>
      </p:sp>
      <p:sp>
        <p:nvSpPr>
          <p:cNvPr id="8" name="Text 4"/>
          <p:cNvSpPr/>
          <p:nvPr/>
        </p:nvSpPr>
        <p:spPr>
          <a:xfrm>
            <a:off x="5235893" y="3743325"/>
            <a:ext cx="415861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Reward repeat buyers → move to Loyal segment</a:t>
            </a:r>
            <a:endParaRPr lang="en-US" sz="17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677995" y="2515791"/>
            <a:ext cx="453628" cy="453628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9677995" y="3252907"/>
            <a:ext cx="3402806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Review Discount Policy</a:t>
            </a:r>
            <a:endParaRPr lang="en-US" sz="2200" dirty="0"/>
          </a:p>
        </p:txBody>
      </p:sp>
      <p:sp>
        <p:nvSpPr>
          <p:cNvPr id="11" name="Text 6"/>
          <p:cNvSpPr/>
          <p:nvPr/>
        </p:nvSpPr>
        <p:spPr>
          <a:xfrm>
            <a:off x="9677995" y="3743325"/>
            <a:ext cx="415861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Balance sales boosts with margin control</a:t>
            </a:r>
            <a:endParaRPr lang="en-US" sz="175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93790" y="4922758"/>
            <a:ext cx="453628" cy="453628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793790" y="5659874"/>
            <a:ext cx="2859286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Targeted Marketing</a:t>
            </a:r>
            <a:endParaRPr lang="en-US" sz="2200" dirty="0"/>
          </a:p>
        </p:txBody>
      </p:sp>
      <p:sp>
        <p:nvSpPr>
          <p:cNvPr id="14" name="Text 8"/>
          <p:cNvSpPr/>
          <p:nvPr/>
        </p:nvSpPr>
        <p:spPr>
          <a:xfrm>
            <a:off x="793790" y="6150293"/>
            <a:ext cx="415861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Focus on high-revenue age groups &amp; express-shipping users</a:t>
            </a:r>
            <a:endParaRPr lang="en-US" sz="1750" dirty="0"/>
          </a:p>
        </p:txBody>
      </p:sp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5235893" y="4922758"/>
            <a:ext cx="453628" cy="453628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5235893" y="5659874"/>
            <a:ext cx="2876312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Product Positioning</a:t>
            </a:r>
            <a:endParaRPr lang="en-US" sz="2200" dirty="0"/>
          </a:p>
        </p:txBody>
      </p:sp>
      <p:sp>
        <p:nvSpPr>
          <p:cNvPr id="17" name="Text 10"/>
          <p:cNvSpPr/>
          <p:nvPr/>
        </p:nvSpPr>
        <p:spPr>
          <a:xfrm>
            <a:off x="5235893" y="6150293"/>
            <a:ext cx="415861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Highlight top-rated &amp; best-selling items in campaigns</a:t>
            </a:r>
            <a:endParaRPr lang="en-US" sz="1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2026-04-21T13:04:38Z</dcterms:created>
  <dcterms:modified xsi:type="dcterms:W3CDTF">2026-04-21T13:04:38Z</dcterms:modified>
</cp:coreProperties>
</file>